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6"/>
  </p:notesMasterIdLst>
  <p:sldIdLst>
    <p:sldId id="813" r:id="rId3"/>
    <p:sldId id="840" r:id="rId4"/>
    <p:sldId id="841" r:id="rId5"/>
    <p:sldId id="842" r:id="rId7"/>
    <p:sldId id="843" r:id="rId8"/>
    <p:sldId id="844" r:id="rId9"/>
    <p:sldId id="82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EDABC20-6C1E-720F-0243-BDFE4FF0ECC9}" name="Matthew Tang" initials="MT" userId="S::eew801@qmul.ac.uk::c76e3cd7-970b-4f12-a0e9-22758cf0c99b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95"/>
    <a:srgbClr val="39A9DC"/>
    <a:srgbClr val="4AACC7"/>
    <a:srgbClr val="CCECFF"/>
    <a:srgbClr val="85A446"/>
    <a:srgbClr val="FF00FF"/>
    <a:srgbClr val="3375CD"/>
    <a:srgbClr val="D30079"/>
    <a:srgbClr val="FDF2C8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254"/>
    <p:restoredTop sz="86438"/>
  </p:normalViewPr>
  <p:slideViewPr>
    <p:cSldViewPr snapToGrid="0">
      <p:cViewPr varScale="1">
        <p:scale>
          <a:sx n="105" d="100"/>
          <a:sy n="105" d="100"/>
        </p:scale>
        <p:origin x="928" y="17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ableStyles" Target="tableStyles.xml"/><Relationship Id="rId14" Type="http://schemas.microsoft.com/office/2018/10/relationships/authors" Target="author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43740A-DFA5-D148-84D3-C50C88F2946B}" type="datetimeFigureOut">
              <a:rPr lang="en-GB" smtClean="0"/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F11BC9-CBA0-5B47-ACBF-DF5F9331A6C5}" type="slidenum">
              <a:rPr lang="en-GB" smtClean="0"/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F11BC9-CBA0-5B47-ACBF-DF5F9331A6C5}" type="slidenum">
              <a:rPr lang="en-GB" smtClean="0"/>
            </a:fld>
            <a:endParaRPr lang="en-GB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F11BC9-CBA0-5B47-ACBF-DF5F9331A6C5}" type="slidenum">
              <a:rPr lang="en-GB" smtClean="0"/>
            </a:fld>
            <a:endParaRPr lang="en-GB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F11BC9-CBA0-5B47-ACBF-DF5F9331A6C5}" type="slidenum">
              <a:rPr lang="en-GB" smtClean="0"/>
            </a:fld>
            <a:endParaRPr lang="en-GB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F11BC9-CBA0-5B47-ACBF-DF5F9331A6C5}" type="slidenum">
              <a:rPr lang="en-GB" smtClean="0"/>
            </a:fld>
            <a:endParaRPr lang="en-GB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F11BC9-CBA0-5B47-ACBF-DF5F9331A6C5}" type="slidenum">
              <a:rPr lang="en-GB" smtClean="0"/>
            </a:fld>
            <a:endParaRPr lang="en-GB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Relationship Id="rId3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GB" dirty="0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DC7CE-E8B7-6A4E-A85C-B07D37EEA5EF}" type="datetimeFigureOut">
              <a:rPr lang="en-GB" smtClean="0"/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30815-B2FA-E442-B0C8-DEF336CD7581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1" y="2671184"/>
            <a:ext cx="9829800" cy="2038280"/>
          </a:xfrm>
        </p:spPr>
        <p:txBody>
          <a:bodyPr anchor="b">
            <a:normAutofit/>
          </a:bodyPr>
          <a:lstStyle>
            <a:lvl1pPr algn="l">
              <a:defRPr sz="4000">
                <a:solidFill>
                  <a:srgbClr val="39A9DC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1" y="4762035"/>
            <a:ext cx="9829800" cy="987382"/>
          </a:xfrm>
        </p:spPr>
        <p:txBody>
          <a:bodyPr>
            <a:normAutofit/>
          </a:bodyPr>
          <a:lstStyle>
            <a:lvl1pPr marL="0" indent="0" algn="l">
              <a:buNone/>
              <a:defRPr sz="1400">
                <a:solidFill>
                  <a:srgbClr val="002060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DC7CE-E8B7-6A4E-A85C-B07D37EEA5EF}" type="datetimeFigureOut">
              <a:rPr lang="en-GB" smtClean="0"/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30815-B2FA-E442-B0C8-DEF336CD7581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57869"/>
            <a:ext cx="10515600" cy="705392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GB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37785"/>
            <a:ext cx="10515600" cy="5118565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  <a:endParaRPr lang="en-GB" dirty="0"/>
          </a:p>
          <a:p>
            <a:pPr lvl="1"/>
            <a:r>
              <a:rPr lang="en-GB" dirty="0"/>
              <a:t>Second level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  <a:p>
            <a:pPr lvl="3"/>
            <a:r>
              <a:rPr lang="en-GB" dirty="0"/>
              <a:t>Fourth level</a:t>
            </a:r>
            <a:endParaRPr lang="en-GB" dirty="0"/>
          </a:p>
          <a:p>
            <a:pPr lvl="4"/>
            <a:r>
              <a:rPr lang="en-GB" dirty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DC7CE-E8B7-6A4E-A85C-B07D37EEA5EF}" type="datetimeFigureOut">
              <a:rPr lang="en-GB" smtClean="0"/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30815-B2FA-E442-B0C8-DEF336CD7581}" type="slidenum">
              <a:rPr lang="en-GB" smtClean="0"/>
            </a:fld>
            <a:endParaRPr lang="en-GB"/>
          </a:p>
        </p:txBody>
      </p:sp>
      <p:sp>
        <p:nvSpPr>
          <p:cNvPr id="7" name="object 7"/>
          <p:cNvSpPr/>
          <p:nvPr userDrawn="1"/>
        </p:nvSpPr>
        <p:spPr>
          <a:xfrm>
            <a:off x="-5173" y="651804"/>
            <a:ext cx="701040" cy="198120"/>
          </a:xfrm>
          <a:custGeom>
            <a:avLst/>
            <a:gdLst/>
            <a:ahLst/>
            <a:cxnLst/>
            <a:rect l="l" t="t" r="r" b="b"/>
            <a:pathLst>
              <a:path w="701040" h="198119">
                <a:moveTo>
                  <a:pt x="0" y="198120"/>
                </a:moveTo>
                <a:lnTo>
                  <a:pt x="701039" y="198120"/>
                </a:lnTo>
                <a:lnTo>
                  <a:pt x="701039" y="0"/>
                </a:lnTo>
                <a:lnTo>
                  <a:pt x="0" y="0"/>
                </a:lnTo>
                <a:lnTo>
                  <a:pt x="0" y="198120"/>
                </a:lnTo>
                <a:close/>
              </a:path>
            </a:pathLst>
          </a:custGeom>
          <a:solidFill>
            <a:srgbClr val="FF0095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98945"/>
            <a:ext cx="10515600" cy="705392"/>
          </a:xfrm>
        </p:spPr>
        <p:txBody>
          <a:bodyPr>
            <a:normAutofit/>
          </a:bodyPr>
          <a:lstStyle>
            <a:lvl1pPr>
              <a:defRPr sz="2400">
                <a:solidFill>
                  <a:srgbClr val="FF0095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37785"/>
            <a:ext cx="10515600" cy="5118565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  <a:endParaRPr lang="en-GB" dirty="0"/>
          </a:p>
          <a:p>
            <a:pPr lvl="1"/>
            <a:r>
              <a:rPr lang="en-GB" dirty="0"/>
              <a:t>Second level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  <a:p>
            <a:pPr lvl="3"/>
            <a:r>
              <a:rPr lang="en-GB" dirty="0"/>
              <a:t>Fourth level</a:t>
            </a:r>
            <a:endParaRPr lang="en-GB" dirty="0"/>
          </a:p>
          <a:p>
            <a:pPr lvl="4"/>
            <a:r>
              <a:rPr lang="en-GB" dirty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DC7CE-E8B7-6A4E-A85C-B07D37EEA5EF}" type="datetimeFigureOut">
              <a:rPr lang="en-GB" smtClean="0"/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30815-B2FA-E442-B0C8-DEF336CD7581}" type="slidenum">
              <a:rPr lang="en-GB" smtClean="0"/>
            </a:fld>
            <a:endParaRPr lang="en-GB"/>
          </a:p>
        </p:txBody>
      </p:sp>
      <p:sp>
        <p:nvSpPr>
          <p:cNvPr id="7" name="object 7"/>
          <p:cNvSpPr/>
          <p:nvPr userDrawn="1"/>
        </p:nvSpPr>
        <p:spPr>
          <a:xfrm>
            <a:off x="-5173" y="651804"/>
            <a:ext cx="701040" cy="198120"/>
          </a:xfrm>
          <a:custGeom>
            <a:avLst/>
            <a:gdLst/>
            <a:ahLst/>
            <a:cxnLst/>
            <a:rect l="l" t="t" r="r" b="b"/>
            <a:pathLst>
              <a:path w="701040" h="198119">
                <a:moveTo>
                  <a:pt x="0" y="198120"/>
                </a:moveTo>
                <a:lnTo>
                  <a:pt x="701039" y="198120"/>
                </a:lnTo>
                <a:lnTo>
                  <a:pt x="701039" y="0"/>
                </a:lnTo>
                <a:lnTo>
                  <a:pt x="0" y="0"/>
                </a:lnTo>
                <a:lnTo>
                  <a:pt x="0" y="198120"/>
                </a:lnTo>
                <a:close/>
              </a:path>
            </a:pathLst>
          </a:custGeom>
          <a:solidFill>
            <a:srgbClr val="FF0095"/>
          </a:solidFill>
        </p:spPr>
        <p:txBody>
          <a:bodyPr wrap="square" lIns="0" tIns="0" rIns="0" bIns="0" rtlCol="0"/>
          <a:lstStyle/>
          <a:p>
            <a:endParaRPr>
              <a:solidFill>
                <a:srgbClr val="FF0095"/>
              </a:solidFill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57869"/>
            <a:ext cx="10515600" cy="705392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GB" dirty="0"/>
              <a:t>Click to edit Master title style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DC7CE-E8B7-6A4E-A85C-B07D37EEA5EF}" type="datetimeFigureOut">
              <a:rPr lang="en-GB" smtClean="0"/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30815-B2FA-E442-B0C8-DEF336CD7581}" type="slidenum">
              <a:rPr lang="en-GB" smtClean="0"/>
            </a:fld>
            <a:endParaRPr lang="en-GB"/>
          </a:p>
        </p:txBody>
      </p:sp>
      <p:sp>
        <p:nvSpPr>
          <p:cNvPr id="7" name="object 7"/>
          <p:cNvSpPr/>
          <p:nvPr userDrawn="1"/>
        </p:nvSpPr>
        <p:spPr>
          <a:xfrm>
            <a:off x="-5173" y="651804"/>
            <a:ext cx="701040" cy="198120"/>
          </a:xfrm>
          <a:custGeom>
            <a:avLst/>
            <a:gdLst/>
            <a:ahLst/>
            <a:cxnLst/>
            <a:rect l="l" t="t" r="r" b="b"/>
            <a:pathLst>
              <a:path w="701040" h="198119">
                <a:moveTo>
                  <a:pt x="0" y="198120"/>
                </a:moveTo>
                <a:lnTo>
                  <a:pt x="701039" y="198120"/>
                </a:lnTo>
                <a:lnTo>
                  <a:pt x="701039" y="0"/>
                </a:lnTo>
                <a:lnTo>
                  <a:pt x="0" y="0"/>
                </a:lnTo>
                <a:lnTo>
                  <a:pt x="0" y="198120"/>
                </a:lnTo>
                <a:close/>
              </a:path>
            </a:pathLst>
          </a:custGeom>
          <a:solidFill>
            <a:srgbClr val="FF0095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98826"/>
            <a:ext cx="10515600" cy="705392"/>
          </a:xfrm>
        </p:spPr>
        <p:txBody>
          <a:bodyPr>
            <a:normAutofit/>
          </a:bodyPr>
          <a:lstStyle>
            <a:lvl1pPr algn="r">
              <a:defRPr sz="2400">
                <a:solidFill>
                  <a:srgbClr val="FF0095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37785"/>
            <a:ext cx="10515600" cy="5118565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  <a:endParaRPr lang="en-GB" dirty="0"/>
          </a:p>
          <a:p>
            <a:pPr lvl="1"/>
            <a:r>
              <a:rPr lang="en-GB" dirty="0"/>
              <a:t>Second level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  <a:p>
            <a:pPr lvl="3"/>
            <a:r>
              <a:rPr lang="en-GB" dirty="0"/>
              <a:t>Fourth level</a:t>
            </a:r>
            <a:endParaRPr lang="en-GB" dirty="0"/>
          </a:p>
          <a:p>
            <a:pPr lvl="4"/>
            <a:r>
              <a:rPr lang="en-GB" dirty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DC7CE-E8B7-6A4E-A85C-B07D37EEA5EF}" type="datetimeFigureOut">
              <a:rPr lang="en-GB" smtClean="0"/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30815-B2FA-E442-B0C8-DEF336CD7581}" type="slidenum">
              <a:rPr lang="en-GB" smtClean="0"/>
            </a:fld>
            <a:endParaRPr lang="en-GB"/>
          </a:p>
        </p:txBody>
      </p:sp>
      <p:sp>
        <p:nvSpPr>
          <p:cNvPr id="7" name="object 7"/>
          <p:cNvSpPr/>
          <p:nvPr userDrawn="1"/>
        </p:nvSpPr>
        <p:spPr>
          <a:xfrm>
            <a:off x="11497335" y="651804"/>
            <a:ext cx="701040" cy="198120"/>
          </a:xfrm>
          <a:custGeom>
            <a:avLst/>
            <a:gdLst/>
            <a:ahLst/>
            <a:cxnLst/>
            <a:rect l="l" t="t" r="r" b="b"/>
            <a:pathLst>
              <a:path w="701040" h="198119">
                <a:moveTo>
                  <a:pt x="0" y="198120"/>
                </a:moveTo>
                <a:lnTo>
                  <a:pt x="701039" y="198120"/>
                </a:lnTo>
                <a:lnTo>
                  <a:pt x="701039" y="0"/>
                </a:lnTo>
                <a:lnTo>
                  <a:pt x="0" y="0"/>
                </a:lnTo>
                <a:lnTo>
                  <a:pt x="0" y="198120"/>
                </a:lnTo>
                <a:close/>
              </a:path>
            </a:pathLst>
          </a:custGeom>
          <a:solidFill>
            <a:srgbClr val="FF0095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3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55600"/>
            <a:ext cx="10515600" cy="709942"/>
          </a:xfrm>
        </p:spPr>
        <p:txBody>
          <a:bodyPr>
            <a:normAutofit/>
          </a:bodyPr>
          <a:lstStyle>
            <a:lvl1pPr algn="l">
              <a:defRPr sz="3600"/>
            </a:lvl1pPr>
          </a:lstStyle>
          <a:p>
            <a:r>
              <a:rPr lang="en-GB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240971"/>
            <a:ext cx="5181600" cy="5115379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  <a:endParaRPr lang="en-GB" dirty="0"/>
          </a:p>
          <a:p>
            <a:pPr lvl="1"/>
            <a:r>
              <a:rPr lang="en-GB" dirty="0"/>
              <a:t>Second level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  <a:p>
            <a:pPr lvl="3"/>
            <a:r>
              <a:rPr lang="en-GB" dirty="0"/>
              <a:t>Fourth level</a:t>
            </a:r>
            <a:endParaRPr lang="en-GB" dirty="0"/>
          </a:p>
          <a:p>
            <a:pPr lvl="4"/>
            <a:r>
              <a:rPr lang="en-GB" dirty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240971"/>
            <a:ext cx="5181600" cy="511537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DC7CE-E8B7-6A4E-A85C-B07D37EEA5EF}" type="datetimeFigureOut">
              <a:rPr lang="en-GB" smtClean="0"/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30815-B2FA-E442-B0C8-DEF336CD7581}" type="slidenum">
              <a:rPr lang="en-GB" smtClean="0"/>
            </a:fld>
            <a:endParaRPr lang="en-GB"/>
          </a:p>
        </p:txBody>
      </p:sp>
      <p:sp>
        <p:nvSpPr>
          <p:cNvPr id="8" name="object 7"/>
          <p:cNvSpPr/>
          <p:nvPr userDrawn="1"/>
        </p:nvSpPr>
        <p:spPr>
          <a:xfrm>
            <a:off x="-5173" y="651804"/>
            <a:ext cx="701040" cy="198120"/>
          </a:xfrm>
          <a:custGeom>
            <a:avLst/>
            <a:gdLst/>
            <a:ahLst/>
            <a:cxnLst/>
            <a:rect l="l" t="t" r="r" b="b"/>
            <a:pathLst>
              <a:path w="701040" h="198119">
                <a:moveTo>
                  <a:pt x="0" y="198120"/>
                </a:moveTo>
                <a:lnTo>
                  <a:pt x="701039" y="198120"/>
                </a:lnTo>
                <a:lnTo>
                  <a:pt x="701039" y="0"/>
                </a:lnTo>
                <a:lnTo>
                  <a:pt x="0" y="0"/>
                </a:lnTo>
                <a:lnTo>
                  <a:pt x="0" y="198120"/>
                </a:lnTo>
                <a:close/>
              </a:path>
            </a:pathLst>
          </a:custGeom>
          <a:solidFill>
            <a:srgbClr val="FF0095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55600"/>
            <a:ext cx="10515600" cy="709942"/>
          </a:xfrm>
        </p:spPr>
        <p:txBody>
          <a:bodyPr>
            <a:normAutofit/>
          </a:bodyPr>
          <a:lstStyle>
            <a:lvl1pPr algn="l">
              <a:defRPr sz="3600"/>
            </a:lvl1pPr>
          </a:lstStyle>
          <a:p>
            <a:r>
              <a:rPr lang="en-GB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240971"/>
            <a:ext cx="5181600" cy="5115379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  <a:endParaRPr lang="en-GB" dirty="0"/>
          </a:p>
          <a:p>
            <a:pPr lvl="1"/>
            <a:r>
              <a:rPr lang="en-GB" dirty="0"/>
              <a:t>Second level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  <a:p>
            <a:pPr lvl="3"/>
            <a:r>
              <a:rPr lang="en-GB" dirty="0"/>
              <a:t>Fourth level</a:t>
            </a:r>
            <a:endParaRPr lang="en-GB" dirty="0"/>
          </a:p>
          <a:p>
            <a:pPr lvl="4"/>
            <a:r>
              <a:rPr lang="en-GB" dirty="0"/>
              <a:t>Fifth level</a:t>
            </a:r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DC7CE-E8B7-6A4E-A85C-B07D37EEA5EF}" type="datetimeFigureOut">
              <a:rPr lang="en-GB" smtClean="0"/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30815-B2FA-E442-B0C8-DEF336CD7581}" type="slidenum">
              <a:rPr lang="en-GB" smtClean="0"/>
            </a:fld>
            <a:endParaRPr lang="en-GB"/>
          </a:p>
        </p:txBody>
      </p:sp>
      <p:sp>
        <p:nvSpPr>
          <p:cNvPr id="8" name="object 7"/>
          <p:cNvSpPr/>
          <p:nvPr userDrawn="1"/>
        </p:nvSpPr>
        <p:spPr>
          <a:xfrm>
            <a:off x="-5173" y="651804"/>
            <a:ext cx="701040" cy="198120"/>
          </a:xfrm>
          <a:custGeom>
            <a:avLst/>
            <a:gdLst/>
            <a:ahLst/>
            <a:cxnLst/>
            <a:rect l="l" t="t" r="r" b="b"/>
            <a:pathLst>
              <a:path w="701040" h="198119">
                <a:moveTo>
                  <a:pt x="0" y="198120"/>
                </a:moveTo>
                <a:lnTo>
                  <a:pt x="701039" y="198120"/>
                </a:lnTo>
                <a:lnTo>
                  <a:pt x="701039" y="0"/>
                </a:lnTo>
                <a:lnTo>
                  <a:pt x="0" y="0"/>
                </a:lnTo>
                <a:lnTo>
                  <a:pt x="0" y="198120"/>
                </a:lnTo>
                <a:close/>
              </a:path>
            </a:pathLst>
          </a:custGeom>
          <a:solidFill>
            <a:srgbClr val="FF0095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679904"/>
          </a:xfrm>
        </p:spPr>
        <p:txBody>
          <a:bodyPr>
            <a:noAutofit/>
          </a:bodyPr>
          <a:lstStyle>
            <a:lvl1pPr>
              <a:defRPr sz="3600"/>
            </a:lvl1pPr>
          </a:lstStyle>
          <a:p>
            <a:r>
              <a:rPr lang="en-GB" dirty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180419"/>
            <a:ext cx="10514012" cy="679904"/>
          </a:xfrm>
        </p:spPr>
        <p:txBody>
          <a:bodyPr anchor="t">
            <a:normAutofit/>
          </a:bodyPr>
          <a:lstStyle>
            <a:lvl1pPr marL="269875" indent="-269875">
              <a:buFont typeface="Arial" panose="020B0604020202020204" pitchFamily="34" charset="0"/>
              <a:buChar char="•"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Click to edit Master text styles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1995714"/>
            <a:ext cx="5157787" cy="4193950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  <a:endParaRPr lang="en-GB" dirty="0"/>
          </a:p>
          <a:p>
            <a:pPr lvl="1"/>
            <a:r>
              <a:rPr lang="en-GB" dirty="0"/>
              <a:t>Second level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  <a:p>
            <a:pPr lvl="3"/>
            <a:r>
              <a:rPr lang="en-GB" dirty="0"/>
              <a:t>Fourth level</a:t>
            </a:r>
            <a:endParaRPr lang="en-GB" dirty="0"/>
          </a:p>
          <a:p>
            <a:pPr lvl="4"/>
            <a:r>
              <a:rPr lang="en-GB" dirty="0"/>
              <a:t>Fifth level</a:t>
            </a:r>
            <a:endParaRPr lang="en-GB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1995713"/>
            <a:ext cx="5183188" cy="4193951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  <a:endParaRPr lang="en-GB" dirty="0"/>
          </a:p>
          <a:p>
            <a:pPr lvl="1"/>
            <a:r>
              <a:rPr lang="en-GB" dirty="0"/>
              <a:t>Second level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  <a:p>
            <a:pPr lvl="3"/>
            <a:r>
              <a:rPr lang="en-GB" dirty="0"/>
              <a:t>Fourth level</a:t>
            </a:r>
            <a:endParaRPr lang="en-GB" dirty="0"/>
          </a:p>
          <a:p>
            <a:pPr lvl="4"/>
            <a:r>
              <a:rPr lang="en-GB" dirty="0"/>
              <a:t>Fifth level</a:t>
            </a:r>
            <a:endParaRPr lang="en-GB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DC7CE-E8B7-6A4E-A85C-B07D37EEA5EF}" type="datetimeFigureOut">
              <a:rPr lang="en-GB" smtClean="0"/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30815-B2FA-E442-B0C8-DEF336CD7581}" type="slidenum">
              <a:rPr lang="en-GB" smtClean="0"/>
            </a:fld>
            <a:endParaRPr lang="en-GB"/>
          </a:p>
        </p:txBody>
      </p:sp>
      <p:sp>
        <p:nvSpPr>
          <p:cNvPr id="10" name="object 7"/>
          <p:cNvSpPr/>
          <p:nvPr userDrawn="1"/>
        </p:nvSpPr>
        <p:spPr>
          <a:xfrm>
            <a:off x="-5173" y="651804"/>
            <a:ext cx="701040" cy="198120"/>
          </a:xfrm>
          <a:custGeom>
            <a:avLst/>
            <a:gdLst/>
            <a:ahLst/>
            <a:cxnLst/>
            <a:rect l="l" t="t" r="r" b="b"/>
            <a:pathLst>
              <a:path w="701040" h="198119">
                <a:moveTo>
                  <a:pt x="0" y="198120"/>
                </a:moveTo>
                <a:lnTo>
                  <a:pt x="701039" y="198120"/>
                </a:lnTo>
                <a:lnTo>
                  <a:pt x="701039" y="0"/>
                </a:lnTo>
                <a:lnTo>
                  <a:pt x="0" y="0"/>
                </a:lnTo>
                <a:lnTo>
                  <a:pt x="0" y="198120"/>
                </a:lnTo>
                <a:close/>
              </a:path>
            </a:pathLst>
          </a:custGeom>
          <a:solidFill>
            <a:srgbClr val="FF0095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dirty="0"/>
              <a:t>Click to edit Master text styles</a:t>
            </a:r>
            <a:endParaRPr lang="en-GB" dirty="0"/>
          </a:p>
          <a:p>
            <a:pPr lvl="1"/>
            <a:r>
              <a:rPr lang="en-GB" dirty="0"/>
              <a:t>Second level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  <a:p>
            <a:pPr lvl="3"/>
            <a:r>
              <a:rPr lang="en-GB" dirty="0"/>
              <a:t>Fourth level</a:t>
            </a:r>
            <a:endParaRPr lang="en-GB" dirty="0"/>
          </a:p>
          <a:p>
            <a:pPr lvl="4"/>
            <a:r>
              <a:rPr lang="en-GB" dirty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DC7CE-E8B7-6A4E-A85C-B07D37EEA5EF}" type="datetimeFigureOut">
              <a:rPr lang="en-GB" smtClean="0"/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30815-B2FA-E442-B0C8-DEF336CD7581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DC7CE-E8B7-6A4E-A85C-B07D37EEA5EF}" type="datetimeFigureOut">
              <a:rPr lang="en-GB" smtClean="0"/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30815-B2FA-E442-B0C8-DEF336CD7581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  <a:endParaRPr lang="en-GB" dirty="0"/>
          </a:p>
          <a:p>
            <a:pPr lvl="1"/>
            <a:r>
              <a:rPr lang="en-GB" dirty="0"/>
              <a:t>Second level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  <a:p>
            <a:pPr lvl="3"/>
            <a:r>
              <a:rPr lang="en-GB" dirty="0"/>
              <a:t>Fourth level</a:t>
            </a:r>
            <a:endParaRPr lang="en-GB" dirty="0"/>
          </a:p>
          <a:p>
            <a:pPr lvl="4"/>
            <a:r>
              <a:rPr lang="en-GB" dirty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DC7CE-E8B7-6A4E-A85C-B07D37EEA5EF}" type="datetimeFigureOut">
              <a:rPr lang="en-GB" smtClean="0"/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30815-B2FA-E442-B0C8-DEF336CD7581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DC7CE-E8B7-6A4E-A85C-B07D37EEA5EF}" type="datetimeFigureOut">
              <a:rPr lang="en-GB" smtClean="0"/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30815-B2FA-E442-B0C8-DEF336CD7581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DC7CE-E8B7-6A4E-A85C-B07D37EEA5EF}" type="datetimeFigureOut">
              <a:rPr lang="en-GB" smtClean="0"/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30815-B2FA-E442-B0C8-DEF336CD7581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DC7CE-E8B7-6A4E-A85C-B07D37EEA5EF}" type="datetimeFigureOut">
              <a:rPr lang="en-GB" smtClean="0"/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30815-B2FA-E442-B0C8-DEF336CD7581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DC7CE-E8B7-6A4E-A85C-B07D37EEA5EF}" type="datetimeFigureOut">
              <a:rPr lang="en-GB" smtClean="0"/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30815-B2FA-E442-B0C8-DEF336CD7581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DC7CE-E8B7-6A4E-A85C-B07D37EEA5EF}" type="datetimeFigureOut">
              <a:rPr lang="en-GB" smtClean="0"/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30815-B2FA-E442-B0C8-DEF336CD7581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DC7CE-E8B7-6A4E-A85C-B07D37EEA5EF}" type="datetimeFigureOut">
              <a:rPr lang="en-GB" smtClean="0"/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30815-B2FA-E442-B0C8-DEF336CD7581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DC7CE-E8B7-6A4E-A85C-B07D37EEA5EF}" type="datetimeFigureOut">
              <a:rPr lang="en-GB" smtClean="0"/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30815-B2FA-E442-B0C8-DEF336CD7581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 colum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79425" y="476250"/>
            <a:ext cx="11233150" cy="654760"/>
          </a:xfrm>
        </p:spPr>
        <p:txBody>
          <a:bodyPr anchor="t"/>
          <a:lstStyle>
            <a:lvl1pPr>
              <a:defRPr b="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4" name="Text Placeholder 2"/>
          <p:cNvSpPr>
            <a:spLocks noGrp="1"/>
          </p:cNvSpPr>
          <p:nvPr>
            <p:ph idx="1" hasCustomPrompt="1"/>
          </p:nvPr>
        </p:nvSpPr>
        <p:spPr>
          <a:xfrm>
            <a:off x="479425" y="1171111"/>
            <a:ext cx="11233150" cy="4948335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2400">
                <a:solidFill>
                  <a:schemeClr val="tx2"/>
                </a:solidFill>
              </a:defRPr>
            </a:lvl1pPr>
            <a:lvl2pPr marL="673100">
              <a:lnSpc>
                <a:spcPct val="100000"/>
              </a:lnSpc>
              <a:spcAft>
                <a:spcPts val="0"/>
              </a:spcAft>
              <a:defRPr sz="2000">
                <a:solidFill>
                  <a:schemeClr val="tx2"/>
                </a:solidFill>
              </a:defRPr>
            </a:lvl2pPr>
            <a:lvl3pPr marL="947420">
              <a:lnSpc>
                <a:spcPct val="100000"/>
              </a:lnSpc>
              <a:spcAft>
                <a:spcPts val="0"/>
              </a:spcAft>
              <a:defRPr sz="1800">
                <a:solidFill>
                  <a:schemeClr val="tx2"/>
                </a:solidFill>
              </a:defRPr>
            </a:lvl3pPr>
            <a:lvl4pPr marL="1293495">
              <a:lnSpc>
                <a:spcPct val="100000"/>
              </a:lnSpc>
              <a:spcAft>
                <a:spcPts val="0"/>
              </a:spcAft>
              <a:defRPr sz="1800">
                <a:solidFill>
                  <a:schemeClr val="tx2"/>
                </a:solidFill>
              </a:defRPr>
            </a:lvl4pPr>
            <a:lvl5pPr marL="1518920">
              <a:lnSpc>
                <a:spcPct val="100000"/>
              </a:lnSpc>
              <a:spcAft>
                <a:spcPts val="0"/>
              </a:spcAft>
              <a:defRPr sz="1800"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noProof="0" dirty="0"/>
              <a:t>Click to edit Master text styles with Top Level Bullet</a:t>
            </a:r>
            <a:endParaRPr lang="en-US" noProof="0" dirty="0"/>
          </a:p>
          <a:p>
            <a:pPr lvl="1"/>
            <a:r>
              <a:rPr lang="en-US" noProof="0" dirty="0"/>
              <a:t>Second level</a:t>
            </a:r>
            <a:endParaRPr lang="en-US" noProof="0" dirty="0"/>
          </a:p>
          <a:p>
            <a:pPr lvl="2"/>
            <a:r>
              <a:rPr lang="en-US" noProof="0" dirty="0"/>
              <a:t>Third level</a:t>
            </a:r>
            <a:endParaRPr lang="en-US" noProof="0" dirty="0"/>
          </a:p>
          <a:p>
            <a:pPr lvl="3"/>
            <a:r>
              <a:rPr lang="en-US" noProof="0" dirty="0"/>
              <a:t>Fourth level</a:t>
            </a:r>
            <a:endParaRPr lang="en-US" noProof="0" dirty="0"/>
          </a:p>
          <a:p>
            <a:pPr lvl="4"/>
            <a:r>
              <a:rPr lang="en-US" noProof="0" dirty="0"/>
              <a:t>Fifth level</a:t>
            </a:r>
            <a:endParaRPr lang="en-US" noProof="0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4_Section Divider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2" cstate="screen">
            <a:alphaModFix amt="60000"/>
          </a:blip>
          <a:srcRect l="2082" t="3803" r="2134" b="12930"/>
          <a:stretch>
            <a:fillRect/>
          </a:stretch>
        </p:blipFill>
        <p:spPr>
          <a:xfrm>
            <a:off x="0" y="-1"/>
            <a:ext cx="12192000" cy="6857999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5016499" y="1207042"/>
            <a:ext cx="6192840" cy="2574186"/>
          </a:xfrm>
        </p:spPr>
        <p:txBody>
          <a:bodyPr anchor="t" anchorCtr="0"/>
          <a:lstStyle>
            <a:lvl1pPr algn="r">
              <a:lnSpc>
                <a:spcPct val="85000"/>
              </a:lnSpc>
              <a:defRPr sz="5000" b="0" spc="-1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Divider Page Title</a:t>
            </a:r>
            <a:br>
              <a:rPr lang="en-US" dirty="0"/>
            </a:br>
            <a:r>
              <a:rPr lang="en-US" dirty="0"/>
              <a:t>Line 3</a:t>
            </a:r>
            <a:br>
              <a:rPr lang="en-US" dirty="0"/>
            </a:br>
            <a:r>
              <a:rPr lang="en-US" dirty="0"/>
              <a:t>Line 4</a:t>
            </a:r>
            <a:endParaRPr lang="en-US" dirty="0"/>
          </a:p>
        </p:txBody>
      </p:sp>
      <p:sp>
        <p:nvSpPr>
          <p:cNvPr id="7" name="Subtitle 2"/>
          <p:cNvSpPr>
            <a:spLocks noGrp="1"/>
          </p:cNvSpPr>
          <p:nvPr>
            <p:ph type="subTitle" idx="1"/>
          </p:nvPr>
        </p:nvSpPr>
        <p:spPr>
          <a:xfrm>
            <a:off x="5016498" y="3973626"/>
            <a:ext cx="6192840" cy="702444"/>
          </a:xfrm>
        </p:spPr>
        <p:txBody>
          <a:bodyPr/>
          <a:lstStyle>
            <a:lvl1pPr marL="0" marR="0" indent="0" algn="r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defRPr sz="2400">
                <a:solidFill>
                  <a:schemeClr val="bg1"/>
                </a:solidFill>
              </a:defRPr>
            </a:lvl1pPr>
            <a:lvl2pPr marL="457200" marR="0" indent="0" algn="r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/>
              <a:t>Click to edit Master subtitle style</a:t>
            </a:r>
            <a:endParaRPr lang="en-GB" dirty="0"/>
          </a:p>
        </p:txBody>
      </p:sp>
      <p:pic>
        <p:nvPicPr>
          <p:cNvPr id="11" name="Picture 10" descr="A picture containing building, drawing&#10;&#10;Description automatically generated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976311" y="1167639"/>
            <a:ext cx="1700213" cy="530640"/>
          </a:xfrm>
          <a:prstGeom prst="rect">
            <a:avLst/>
          </a:prstGeom>
        </p:spPr>
      </p:pic>
      <p:sp>
        <p:nvSpPr>
          <p:cNvPr id="9" name="TextBox 20"/>
          <p:cNvSpPr txBox="1">
            <a:spLocks noChangeArrowheads="1"/>
          </p:cNvSpPr>
          <p:nvPr userDrawn="1"/>
        </p:nvSpPr>
        <p:spPr bwMode="auto">
          <a:xfrm>
            <a:off x="982662" y="6413179"/>
            <a:ext cx="4636741" cy="1384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9pPr>
          </a:lstStyle>
          <a:p>
            <a:pPr algn="l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None/>
              <a:defRPr/>
            </a:pPr>
            <a:r>
              <a:rPr lang="en-GB" altLang="en-US" sz="1000" dirty="0">
                <a:solidFill>
                  <a:schemeClr val="bg2"/>
                </a:solidFill>
              </a:rPr>
              <a:t>© 2021 Arm</a:t>
            </a:r>
            <a:endParaRPr lang="en-US" altLang="en-US" sz="1000" dirty="0">
              <a:solidFill>
                <a:schemeClr val="bg2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4"/>
            <a:ext cx="10515600" cy="45307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  <a:endParaRPr lang="en-GB" dirty="0"/>
          </a:p>
          <a:p>
            <a:pPr lvl="1"/>
            <a:r>
              <a:rPr lang="en-GB" dirty="0"/>
              <a:t>Second level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  <a:p>
            <a:pPr lvl="3"/>
            <a:r>
              <a:rPr lang="en-GB" dirty="0"/>
              <a:t>Fourth level</a:t>
            </a:r>
            <a:endParaRPr lang="en-GB" dirty="0"/>
          </a:p>
          <a:p>
            <a:pPr lvl="4"/>
            <a:r>
              <a:rPr lang="en-GB" dirty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FDC7CE-E8B7-6A4E-A85C-B07D37EEA5EF}" type="datetimeFigureOut">
              <a:rPr lang="en-GB" smtClean="0"/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830815-B2FA-E442-B0C8-DEF336CD7581}" type="slidenum">
              <a:rPr lang="en-GB" smtClean="0"/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39A9DC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39A9DC"/>
        </a:buClr>
        <a:buFont typeface="Arial" panose="020B0604020202020204" pitchFamily="34" charset="0"/>
        <a:buChar char="•"/>
        <a:defRPr sz="2000" kern="1200">
          <a:solidFill>
            <a:srgbClr val="002060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39A9DC"/>
        </a:buClr>
        <a:buFont typeface="Arial" panose="020B0604020202020204" pitchFamily="34" charset="0"/>
        <a:buChar char="•"/>
        <a:defRPr sz="1800" kern="1200">
          <a:solidFill>
            <a:srgbClr val="002060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39A9DC"/>
        </a:buClr>
        <a:buFont typeface="Arial" panose="020B0604020202020204" pitchFamily="34" charset="0"/>
        <a:buChar char="•"/>
        <a:defRPr sz="1600" kern="1200">
          <a:solidFill>
            <a:srgbClr val="002060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39A9DC"/>
        </a:buClr>
        <a:buFont typeface="Arial" panose="020B0604020202020204" pitchFamily="34" charset="0"/>
        <a:buChar char="•"/>
        <a:defRPr sz="1100" kern="1200">
          <a:solidFill>
            <a:srgbClr val="002060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39A9DC"/>
        </a:buClr>
        <a:buFont typeface="Arial" panose="020B0604020202020204" pitchFamily="34" charset="0"/>
        <a:buChar char="•"/>
        <a:defRPr sz="1100" kern="1200">
          <a:solidFill>
            <a:srgbClr val="002060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CN" dirty="0">
                <a:ea typeface="微软雅黑"/>
              </a:rPr>
              <a:t/>
            </a:r>
            <a:r>
              <a:rPr lang="zh-CN" sz="3600" dirty="0">
                <a:ea typeface="微软雅黑"/>
              </a:rPr>
              <a:t>模块 4：编程日</a:t>
            </a:r>
            <a:br>
              <a:rPr lang="en-GB" sz="3600" dirty="0"/>
            </a:br>
            <a:r>
              <a:rPr lang="zh-CN" sz="3600" dirty="0" err="1">
                <a:ea typeface="微软雅黑"/>
              </a:rPr>
              <a:t>FreeRTOS 激光雷达数据流水线</a:t>
            </a:r>
            <a:r>
              <a:rPr lang="zh-CN" sz="3600" dirty="0">
                <a:ea typeface="微软雅黑"/>
              </a:rPr>
              <a:t/>
            </a:r>
            <a:endParaRPr lang="en-GB" sz="3600" noProof="0" dirty="0"/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524000" y="4868562"/>
            <a:ext cx="9144000" cy="389238"/>
          </a:xfrm>
        </p:spPr>
        <p:txBody>
          <a:bodyPr/>
          <a:lstStyle/>
          <a:p>
            <a:r>
              <a:rPr lang="zh-CN" dirty="0">
                <a:solidFill>
                  <a:srgbClr val="FF0095"/>
                </a:solidFill>
                <a:ea typeface="微软雅黑"/>
              </a:rPr>
              <a:t>“团队协作与协同学习”</a:t>
            </a:r>
            <a:endParaRPr lang="en-GB" dirty="0">
              <a:solidFill>
                <a:srgbClr val="FF0095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dirty="0">
                <a:ea typeface="微软雅黑"/>
              </a:rPr>
              <a:t>1. 任务说明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37786"/>
            <a:ext cx="10515600" cy="4492502"/>
          </a:xfrm>
        </p:spPr>
        <p:txBody>
          <a:bodyPr>
            <a:normAutofit/>
          </a:bodyPr>
          <a:lstStyle/>
          <a:p>
            <a:r>
              <a:rPr lang="zh-CN" sz="1800" dirty="0">
                <a:ea typeface="微软雅黑"/>
              </a:rPr>
              <a:t>你们已经开发了使用 UART + DMA，以 SCAN 模式（或 EXPRESS 模式）读取 RPLidar C1 的嵌入式代码。</a:t>
            </a:r>
            <a:r>
              <a:rPr lang="zh-CN" sz="1800" dirty="0" err="1">
                <a:ea typeface="微软雅黑"/>
              </a:rPr>
              <a:t/>
            </a:r>
            <a:r>
              <a:rPr lang="zh-CN" sz="1800" dirty="0">
                <a:ea typeface="微软雅黑"/>
              </a:rPr>
              <a:t/>
            </a:r>
            <a:endParaRPr lang="en-GB" sz="1800" dirty="0"/>
          </a:p>
          <a:p>
            <a:r>
              <a:rPr lang="zh-CN" sz="1800" dirty="0">
                <a:ea typeface="微软雅黑"/>
              </a:rPr>
              <a:t>在本次编程日中，你们需要将已有的传感输入扩展为一个基于 FreeRTOS 的简单软件流水线，用以演示：</a:t>
            </a:r>
            <a:r>
              <a:rPr lang="zh-CN" sz="1800" dirty="0" err="1">
                <a:ea typeface="微软雅黑"/>
              </a:rPr>
              <a:t/>
            </a:r>
            <a:r>
              <a:rPr lang="zh-CN" sz="1800" dirty="0">
                <a:ea typeface="微软雅黑"/>
              </a:rPr>
              <a:t/>
            </a:r>
            <a:endParaRPr lang="en-GB" sz="1800" dirty="0"/>
          </a:p>
          <a:p>
            <a:pPr lvl="1"/>
            <a:r>
              <a:rPr lang="zh-CN" sz="1600" dirty="0">
                <a:ea typeface="微软雅黑"/>
              </a:rPr>
              <a:t>中断驱动的事件处理</a:t>
            </a:r>
            <a:endParaRPr lang="en-GB" sz="1600" dirty="0"/>
          </a:p>
          <a:p>
            <a:pPr lvl="1"/>
            <a:r>
              <a:rPr lang="zh-CN" sz="1600" dirty="0">
                <a:ea typeface="微软雅黑"/>
              </a:rPr>
              <a:t>基于队列的通信</a:t>
            </a:r>
            <a:endParaRPr lang="en-GB" sz="1600" dirty="0"/>
          </a:p>
          <a:p>
            <a:pPr lvl="1"/>
            <a:r>
              <a:rPr lang="zh-CN" sz="1600" dirty="0">
                <a:ea typeface="微软雅黑"/>
              </a:rPr>
              <a:t>任务调度</a:t>
            </a:r>
            <a:endParaRPr lang="en-GB" sz="1600" dirty="0"/>
          </a:p>
          <a:p>
            <a:pPr lvl="1"/>
            <a:r>
              <a:rPr lang="zh-CN" sz="1600" dirty="0">
                <a:ea typeface="微软雅黑"/>
              </a:rPr>
              <a:t>任务级的流式激光雷达数据解析</a:t>
            </a:r>
            <a:endParaRPr lang="en-GB" sz="1600" dirty="0"/>
          </a:p>
          <a:p>
            <a:r>
              <a:rPr lang="zh-CN" sz="1800" dirty="0">
                <a:ea typeface="微软雅黑"/>
              </a:rPr>
              <a:t>你们需要演示：已完成的 DMA 数据块如何从中断上下文传递到任务上下文，被处理成有意义的激光雷达信息，随后再转发给第二个任务进行输出与调试。</a:t>
            </a:r>
            <a:endParaRPr lang="en-GB" sz="1800" dirty="0"/>
          </a:p>
          <a:p>
            <a:r>
              <a:rPr lang="zh-CN" sz="1800" dirty="0">
                <a:ea typeface="微软雅黑"/>
              </a:rPr>
              <a:t>本任务的重点是演示一套用于处理连续激光雷达数据的正确 </a:t>
            </a:r>
            <a:r>
              <a:rPr lang="zh-CN" sz="1800" b="1" dirty="0">
                <a:ea typeface="微软雅黑"/>
              </a:rPr>
              <a:t>RTOS 软件架构</a:t>
            </a:r>
            <a:r>
              <a:rPr lang="zh-CN" sz="1800" dirty="0">
                <a:ea typeface="微软雅黑"/>
              </a:rPr>
              <a:t>。</a:t>
            </a:r>
            <a:endParaRPr lang="en-GB" sz="1800" dirty="0"/>
          </a:p>
          <a:p>
            <a:r>
              <a:rPr lang="zh-CN" sz="1800" dirty="0">
                <a:ea typeface="微软雅黑"/>
              </a:rPr>
              <a:t>提交一份简要的分析报告，并向助教演示可正常运行的系统。分数将授予能够展示出理解的小组成员。</a:t>
            </a:r>
            <a:endParaRPr lang="en-GB" sz="18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16340" y="5475610"/>
            <a:ext cx="1382390" cy="13823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260017" y="5847218"/>
            <a:ext cx="1382389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sz="1100" b="1" dirty="0">
                <a:solidFill>
                  <a:srgbClr val="FF0095"/>
                </a:solidFill>
                <a:latin typeface="Arial" panose="020B0604020202020204" pitchFamily="34" charset="0"/>
                <a:ea typeface="微软雅黑"/>
                <a:cs typeface="Arial" panose="020B0604020202020204" pitchFamily="34" charset="0"/>
              </a:rPr>
              <a:t>使用此二维码提交报告</a:t>
            </a:r>
            <a:endParaRPr lang="en-GB" sz="1100" b="1" dirty="0">
              <a:solidFill>
                <a:srgbClr val="FF009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57869"/>
            <a:ext cx="10515600" cy="705392"/>
          </a:xfrm>
        </p:spPr>
        <p:txBody>
          <a:bodyPr/>
          <a:lstStyle/>
          <a:p>
            <a:r>
              <a:rPr lang="zh-CN" dirty="0">
                <a:ea typeface="微软雅黑"/>
              </a:rPr>
              <a:t>2. 挑战说明 / 应用行为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838200" y="1238250"/>
            <a:ext cx="10515600" cy="5505450"/>
          </a:xfrm>
        </p:spPr>
        <p:txBody>
          <a:bodyPr>
            <a:normAutofit/>
          </a:bodyPr>
          <a:lstStyle/>
          <a:p>
            <a:r>
              <a:rPr lang="zh-CN" dirty="0">
                <a:ea typeface="微软雅黑"/>
              </a:rPr>
              <a:t>基于你们现有的 RPLidar C1 SCAN 模式（EXPRESS 模式）UART + DMA 接收功能，实现以下流水线：</a:t>
            </a:r>
            <a:r>
              <a:rPr lang="zh-CN" dirty="0" err="1">
                <a:ea typeface="微软雅黑"/>
              </a:rPr>
              <a:t/>
            </a:r>
            <a:r>
              <a:rPr lang="zh-CN" dirty="0">
                <a:ea typeface="微软雅黑"/>
              </a:rPr>
              <a:t/>
            </a:r>
            <a:endParaRPr lang="en-GB" dirty="0"/>
          </a:p>
          <a:p>
            <a:pPr marL="0" indent="0" algn="ctr">
              <a:buNone/>
            </a:pPr>
            <a:endParaRPr lang="en-GB" dirty="0">
              <a:solidFill>
                <a:schemeClr val="accent6"/>
              </a:solidFill>
            </a:endParaRPr>
          </a:p>
          <a:p>
            <a:pPr marL="0" indent="0" algn="ctr">
              <a:buNone/>
            </a:pPr>
            <a:r>
              <a:rPr lang="zh-CN" dirty="0">
                <a:solidFill>
                  <a:schemeClr val="accent6"/>
                </a:solidFill>
                <a:ea typeface="微软雅黑"/>
              </a:rPr>
              <a:t>UART + DMA → ISR → 队列 1 → 激光雷达解析任务 → 队列 2 → 输出/调试任务</a:t>
            </a:r>
            <a:endParaRPr lang="en-GB" dirty="0">
              <a:solidFill>
                <a:schemeClr val="accent6"/>
              </a:solidFill>
            </a:endParaRP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zh-CN" dirty="0">
                <a:ea typeface="微软雅黑"/>
              </a:rPr>
              <a:t>参考方法：</a:t>
            </a:r>
            <a:endParaRPr lang="en-GB" dirty="0"/>
          </a:p>
          <a:p>
            <a:r>
              <a:rPr lang="zh-CN" dirty="0">
                <a:ea typeface="微软雅黑"/>
              </a:rPr>
              <a:t>a) 采用 DMA 分块策略的连续激光雷达接收</a:t>
            </a:r>
            <a:endParaRPr lang="en-GB" dirty="0"/>
          </a:p>
          <a:p>
            <a:pPr lvl="1"/>
            <a:r>
              <a:rPr lang="zh-CN" dirty="0">
                <a:ea typeface="微软雅黑"/>
              </a:rPr>
              <a:t>保持对 RPLidar C1 字节流的连续 UART + DMA 接收。</a:t>
            </a:r>
            <a:r>
              <a:rPr lang="zh-CN" dirty="0" err="1">
                <a:ea typeface="微软雅黑"/>
              </a:rPr>
              <a:t/>
            </a:r>
            <a:r>
              <a:rPr lang="zh-CN" dirty="0">
                <a:ea typeface="微软雅黑"/>
              </a:rPr>
              <a:t/>
            </a:r>
            <a:endParaRPr lang="en-GB" dirty="0"/>
          </a:p>
          <a:p>
            <a:pPr lvl="1"/>
            <a:r>
              <a:rPr lang="zh-CN" dirty="0">
                <a:ea typeface="微软雅黑"/>
              </a:rPr>
              <a:t>DMA 必须将输入的字节流写入一块内存缓冲区，该缓冲区被划分为两个固定大小的半区，并以乒乓方式交替使用。</a:t>
            </a:r>
            <a:endParaRPr lang="en-GB" dirty="0"/>
          </a:p>
          <a:p>
            <a:pPr lvl="1"/>
            <a:r>
              <a:rPr lang="zh-CN" dirty="0">
                <a:ea typeface="微软雅黑"/>
              </a:rPr>
              <a:t>必须通过以下方式识别 DMA 数据块是否就绪：</a:t>
            </a:r>
            <a:endParaRPr lang="en-GB" dirty="0"/>
          </a:p>
          <a:p>
            <a:pPr lvl="2"/>
            <a:r>
              <a:rPr lang="zh-CN" dirty="0">
                <a:ea typeface="微软雅黑"/>
              </a:rPr>
              <a:t>DMA 半完成中断，和/或</a:t>
            </a:r>
            <a:endParaRPr lang="en-GB" dirty="0"/>
          </a:p>
          <a:p>
            <a:pPr lvl="2"/>
            <a:r>
              <a:rPr lang="zh-CN" dirty="0">
                <a:ea typeface="微软雅黑"/>
              </a:rPr>
              <a:t>DMA 完成中断</a:t>
            </a:r>
            <a:endParaRPr lang="en-GB" dirty="0"/>
          </a:p>
          <a:p>
            <a:pPr lvl="2"/>
            <a:r>
              <a:rPr lang="zh-CN" dirty="0">
                <a:ea typeface="微软雅黑"/>
              </a:rPr>
              <a:t>或其他有明确论证的等效方法。</a:t>
            </a:r>
            <a:endParaRPr lang="en-GB" dirty="0"/>
          </a:p>
          <a:p>
            <a:pPr lvl="1"/>
            <a:r>
              <a:rPr lang="zh-CN" dirty="0">
                <a:ea typeface="微软雅黑"/>
              </a:rPr>
              <a:t>在本挑战中，将 DMA 视为持续地把激光雷达字节流填充进固定大小的内存块。每个已完成的块随后被交给任务级处理。</a:t>
            </a: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57869"/>
            <a:ext cx="10515600" cy="705392"/>
          </a:xfrm>
        </p:spPr>
        <p:txBody>
          <a:bodyPr/>
          <a:lstStyle/>
          <a:p>
            <a:r>
              <a:rPr lang="zh-CN" dirty="0">
                <a:ea typeface="微软雅黑"/>
              </a:rPr>
              <a:t>2. 挑战说明 / 应用行为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838200" y="1238249"/>
            <a:ext cx="10515600" cy="5619751"/>
          </a:xfrm>
        </p:spPr>
        <p:txBody>
          <a:bodyPr>
            <a:normAutofit fontScale="85000" lnSpcReduction="10000"/>
          </a:bodyPr>
          <a:lstStyle/>
          <a:p>
            <a:r>
              <a:rPr lang="zh-CN" dirty="0">
                <a:ea typeface="微软雅黑"/>
              </a:rPr>
              <a:t>b) 从 ISR 到队列 1</a:t>
            </a:r>
            <a:endParaRPr lang="en-GB" dirty="0"/>
          </a:p>
          <a:p>
            <a:pPr lvl="1"/>
            <a:r>
              <a:rPr lang="zh-CN" dirty="0">
                <a:ea typeface="微软雅黑"/>
              </a:rPr>
              <a:t>当 DMA 指示缓冲区的一个半区已被填满时，ISR 必须保持简短。</a:t>
            </a:r>
            <a:endParaRPr lang="en-GB" dirty="0"/>
          </a:p>
          <a:p>
            <a:pPr lvl="1"/>
            <a:r>
              <a:rPr lang="zh-CN" dirty="0">
                <a:ea typeface="微软雅黑"/>
              </a:rPr>
              <a:t>ISR 不得执行繁重的解析工作。</a:t>
            </a:r>
            <a:endParaRPr lang="en-GB" dirty="0"/>
          </a:p>
          <a:p>
            <a:pPr lvl="1"/>
            <a:r>
              <a:rPr lang="zh-CN" dirty="0">
                <a:ea typeface="微软雅黑"/>
              </a:rPr>
              <a:t>相反，它必须向队列 1 发送一个用于标识已完成块的小型描述符。</a:t>
            </a:r>
            <a:endParaRPr lang="en-GB" dirty="0"/>
          </a:p>
          <a:p>
            <a:pPr lvl="1"/>
            <a:r>
              <a:rPr lang="zh-CN" dirty="0">
                <a:ea typeface="微软雅黑"/>
              </a:rPr>
              <a:t>队列 1 的消息可以包含例如：缓冲区偏移量、块长度、块 ID、事件计数器。</a:t>
            </a:r>
            <a:endParaRPr lang="en-GB" dirty="0"/>
          </a:p>
          <a:p>
            <a:pPr lvl="1"/>
            <a:r>
              <a:rPr lang="zh-CN" dirty="0">
                <a:ea typeface="微软雅黑"/>
              </a:rPr>
              <a:t>队列 1 只携带已完成 DMA 块的小型描述符；原始激光雷达字节仍保留在内存中的 DMA 缓冲区里。你们团队必须论证该队列消息中需要包含哪些信息。</a:t>
            </a:r>
            <a:endParaRPr lang="en-GB" dirty="0"/>
          </a:p>
          <a:p>
            <a:r>
              <a:rPr lang="zh-CN" dirty="0">
                <a:ea typeface="微软雅黑"/>
              </a:rPr>
              <a:t>c) 激光雷达解析任务（任务 1）</a:t>
            </a:r>
            <a:endParaRPr lang="en-GB" dirty="0"/>
          </a:p>
          <a:p>
            <a:pPr lvl="1"/>
            <a:r>
              <a:rPr lang="zh-CN" dirty="0">
                <a:ea typeface="微软雅黑"/>
              </a:rPr>
              <a:t>创建一个激光雷达解析任务。</a:t>
            </a:r>
            <a:endParaRPr lang="en-GB" dirty="0"/>
          </a:p>
          <a:p>
            <a:pPr lvl="1"/>
            <a:r>
              <a:rPr lang="zh-CN" dirty="0">
                <a:ea typeface="微软雅黑"/>
              </a:rPr>
              <a:t>该任务必须保持阻塞在队列 1 上。</a:t>
            </a:r>
            <a:endParaRPr lang="en-GB" dirty="0"/>
          </a:p>
          <a:p>
            <a:pPr lvl="1"/>
            <a:r>
              <a:rPr lang="zh-CN" dirty="0">
                <a:ea typeface="微软雅黑"/>
              </a:rPr>
              <a:t>当队列 1 收到新的块描述符时，解析任务必须唤醒并处理对应的 DMA 数据块。</a:t>
            </a:r>
            <a:endParaRPr lang="en-GB" dirty="0"/>
          </a:p>
          <a:p>
            <a:pPr lvl="1"/>
            <a:r>
              <a:rPr lang="zh-CN" dirty="0">
                <a:ea typeface="微软雅黑"/>
              </a:rPr>
              <a:t>解析任务必须使用通过队列 1 收到的偏移量和长度，直接从 DMA 原始缓冲区读取已完成的块。</a:t>
            </a:r>
            <a:endParaRPr lang="en-GB" dirty="0"/>
          </a:p>
          <a:p>
            <a:pPr lvl="1"/>
            <a:r>
              <a:rPr lang="zh-CN" dirty="0">
                <a:ea typeface="微软雅黑"/>
              </a:rPr>
              <a:t>解析任务必须解释连续的激光雷达字节流，并产出更有意义的结果。</a:t>
            </a:r>
            <a:endParaRPr lang="en-GB" dirty="0"/>
          </a:p>
          <a:p>
            <a:pPr lvl="1"/>
            <a:r>
              <a:rPr lang="zh-CN" dirty="0">
                <a:ea typeface="微软雅黑"/>
              </a:rPr>
              <a:t>具体的处理后输出并不事先固定。你们团队应确定并论证一个合适的结果，例如：</a:t>
            </a:r>
            <a:endParaRPr lang="en-GB" dirty="0"/>
          </a:p>
          <a:p>
            <a:pPr lvl="2"/>
            <a:r>
              <a:rPr lang="zh-CN" dirty="0">
                <a:ea typeface="微软雅黑"/>
              </a:rPr>
              <a:t>有效测量计数</a:t>
            </a:r>
            <a:endParaRPr lang="en-GB" dirty="0"/>
          </a:p>
          <a:p>
            <a:pPr lvl="2"/>
            <a:r>
              <a:rPr lang="zh-CN" dirty="0">
                <a:ea typeface="微软雅黑"/>
              </a:rPr>
              <a:t>提取的节点计数</a:t>
            </a:r>
            <a:endParaRPr lang="en-GB" dirty="0"/>
          </a:p>
          <a:p>
            <a:pPr lvl="2"/>
            <a:r>
              <a:rPr lang="zh-CN" dirty="0">
                <a:ea typeface="微软雅黑"/>
              </a:rPr>
              <a:t>角度-距离值</a:t>
            </a:r>
            <a:endParaRPr lang="en-GB" dirty="0"/>
          </a:p>
          <a:p>
            <a:pPr lvl="2"/>
            <a:r>
              <a:rPr lang="zh-CN" dirty="0">
                <a:ea typeface="微软雅黑"/>
              </a:rPr>
              <a:t>观测到的最小距离</a:t>
            </a:r>
            <a:endParaRPr lang="en-GB" dirty="0"/>
          </a:p>
          <a:p>
            <a:pPr lvl="2"/>
            <a:r>
              <a:rPr lang="zh-CN" dirty="0">
                <a:ea typeface="微软雅黑"/>
              </a:rPr>
              <a:t>简单的基于扇区的障碍物摘要</a:t>
            </a:r>
            <a:endParaRPr lang="en-GB" dirty="0"/>
          </a:p>
          <a:p>
            <a:pPr lvl="2"/>
            <a:r>
              <a:rPr lang="zh-CN" dirty="0">
                <a:ea typeface="微软雅黑"/>
              </a:rPr>
              <a:t>数据包或扫描统计</a:t>
            </a:r>
            <a:endParaRPr lang="en-GB" dirty="0"/>
          </a:p>
        </p:txBody>
      </p:sp>
      <p:sp>
        <p:nvSpPr>
          <p:cNvPr id="6" name="TextBox 5"/>
          <p:cNvSpPr txBox="1"/>
          <p:nvPr/>
        </p:nvSpPr>
        <p:spPr>
          <a:xfrm>
            <a:off x="-47625" y="4210050"/>
            <a:ext cx="18473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endParaRPr lang="en-GB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57869"/>
            <a:ext cx="10515600" cy="705392"/>
          </a:xfrm>
        </p:spPr>
        <p:txBody>
          <a:bodyPr/>
          <a:lstStyle/>
          <a:p>
            <a:r>
              <a:rPr lang="zh-CN" dirty="0">
                <a:ea typeface="微软雅黑"/>
              </a:rPr>
              <a:t>2. 挑战说明 / 应用行为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838200" y="1237785"/>
            <a:ext cx="10515600" cy="5118565"/>
          </a:xfrm>
        </p:spPr>
        <p:txBody>
          <a:bodyPr>
            <a:normAutofit fontScale="92500" lnSpcReduction="10000"/>
          </a:bodyPr>
          <a:lstStyle/>
          <a:p>
            <a:r>
              <a:rPr lang="zh-CN" dirty="0">
                <a:ea typeface="微软雅黑"/>
              </a:rPr>
              <a:t>d) 输出/调试任务（任务 2）</a:t>
            </a:r>
            <a:endParaRPr lang="en-GB" dirty="0"/>
          </a:p>
          <a:p>
            <a:pPr lvl="1"/>
            <a:r>
              <a:rPr lang="zh-CN" dirty="0">
                <a:ea typeface="微软雅黑"/>
              </a:rPr>
              <a:t>创建一个输出/调试任务。</a:t>
            </a:r>
            <a:endParaRPr lang="en-GB" dirty="0"/>
          </a:p>
          <a:p>
            <a:pPr lvl="1"/>
            <a:r>
              <a:rPr lang="zh-CN" dirty="0">
                <a:ea typeface="微软雅黑"/>
              </a:rPr>
              <a:t>该任务必须保持阻塞在队列 2 上。</a:t>
            </a:r>
            <a:endParaRPr lang="en-GB" dirty="0"/>
          </a:p>
          <a:p>
            <a:pPr lvl="1"/>
            <a:r>
              <a:rPr lang="zh-CN" dirty="0">
                <a:ea typeface="微软雅黑"/>
              </a:rPr>
              <a:t>解析完一个 DMA 块后，解析任务必须向队列 2 发送一个处理结果结构体。</a:t>
            </a:r>
            <a:endParaRPr lang="en-GB" dirty="0"/>
          </a:p>
          <a:p>
            <a:pPr lvl="1"/>
            <a:r>
              <a:rPr lang="zh-CN" dirty="0">
                <a:ea typeface="微软雅黑"/>
              </a:rPr>
              <a:t>输出/调试任务必须唤醒，并使用以下方式呈现结果：</a:t>
            </a:r>
            <a:endParaRPr lang="en-GB" dirty="0"/>
          </a:p>
          <a:p>
            <a:pPr lvl="2"/>
            <a:r>
              <a:rPr lang="zh-CN" dirty="0">
                <a:ea typeface="微软雅黑"/>
              </a:rPr>
              <a:t>ITM / SWV</a:t>
            </a:r>
            <a:endParaRPr lang="en-GB" dirty="0"/>
          </a:p>
          <a:p>
            <a:pPr lvl="2"/>
            <a:r>
              <a:rPr lang="zh-CN" dirty="0">
                <a:ea typeface="微软雅黑"/>
              </a:rPr>
              <a:t>UART 终端</a:t>
            </a:r>
            <a:endParaRPr lang="en-GB" dirty="0"/>
          </a:p>
          <a:p>
            <a:pPr lvl="2"/>
            <a:r>
              <a:rPr lang="zh-CN" dirty="0">
                <a:ea typeface="微软雅黑"/>
              </a:rPr>
              <a:t>或蓝牙串口终端</a:t>
            </a:r>
            <a:endParaRPr lang="en-GB" dirty="0"/>
          </a:p>
          <a:p>
            <a:pPr lvl="1"/>
            <a:r>
              <a:rPr lang="zh-CN" dirty="0">
                <a:ea typeface="微软雅黑"/>
              </a:rPr>
              <a:t>该任务将处理与呈现/调试分离开来。</a:t>
            </a:r>
            <a:endParaRPr lang="en-GB" dirty="0"/>
          </a:p>
          <a:p>
            <a:r>
              <a:rPr lang="zh-CN" dirty="0">
                <a:ea typeface="微软雅黑"/>
              </a:rPr>
              <a:t>e) 调研与论证</a:t>
            </a:r>
            <a:endParaRPr lang="en-GB" dirty="0"/>
          </a:p>
          <a:p>
            <a:pPr lvl="1"/>
            <a:r>
              <a:rPr lang="zh-CN" dirty="0">
                <a:ea typeface="微软雅黑"/>
              </a:rPr>
              <a:t>对于 C1 在每个 DMA 块中产生的确切输出样本数量，并未给出固定的假设。</a:t>
            </a:r>
            <a:endParaRPr lang="en-GB" dirty="0"/>
          </a:p>
          <a:p>
            <a:pPr lvl="1"/>
            <a:r>
              <a:rPr lang="zh-CN" dirty="0">
                <a:ea typeface="微软雅黑"/>
              </a:rPr>
              <a:t>因此，你们团队必须：</a:t>
            </a:r>
            <a:endParaRPr lang="en-GB" dirty="0"/>
          </a:p>
          <a:p>
            <a:pPr lvl="2"/>
            <a:r>
              <a:rPr lang="zh-CN" dirty="0">
                <a:ea typeface="微软雅黑"/>
              </a:rPr>
              <a:t>调研激光雷达数据流的行为</a:t>
            </a:r>
            <a:endParaRPr lang="en-GB" dirty="0"/>
          </a:p>
          <a:p>
            <a:pPr lvl="2"/>
            <a:r>
              <a:rPr lang="zh-CN" dirty="0">
                <a:ea typeface="微软雅黑"/>
              </a:rPr>
              <a:t>选择并论证合适的 DMA 块大小</a:t>
            </a:r>
            <a:endParaRPr lang="en-GB" dirty="0"/>
          </a:p>
          <a:p>
            <a:pPr lvl="2"/>
            <a:r>
              <a:rPr lang="zh-CN" dirty="0">
                <a:ea typeface="微软雅黑"/>
              </a:rPr>
              <a:t>论证队列消息结构</a:t>
            </a:r>
            <a:endParaRPr lang="en-GB" dirty="0"/>
          </a:p>
          <a:p>
            <a:pPr lvl="2"/>
            <a:r>
              <a:rPr lang="zh-CN" dirty="0">
                <a:ea typeface="微软雅黑"/>
              </a:rPr>
              <a:t>解释解析任务如何处理连续的字节流</a:t>
            </a:r>
            <a:endParaRPr lang="en-GB" dirty="0"/>
          </a:p>
          <a:p>
            <a:pPr lvl="2"/>
            <a:r>
              <a:rPr lang="zh-CN" dirty="0">
                <a:ea typeface="微软雅黑"/>
              </a:rPr>
              <a:t>解释 DMA 分块策略如何支持中断上下文与任务上下文之间的安全交接</a:t>
            </a:r>
            <a:endParaRPr lang="en-GB" dirty="0"/>
          </a:p>
          <a:p>
            <a:pPr lvl="1"/>
            <a:endParaRPr lang="en-GB" dirty="0"/>
          </a:p>
        </p:txBody>
      </p:sp>
      <p:sp>
        <p:nvSpPr>
          <p:cNvPr id="6" name="TextBox 5"/>
          <p:cNvSpPr txBox="1"/>
          <p:nvPr/>
        </p:nvSpPr>
        <p:spPr>
          <a:xfrm>
            <a:off x="-47625" y="4210050"/>
            <a:ext cx="18473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endParaRPr lang="en-GB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57869"/>
            <a:ext cx="10515600" cy="705392"/>
          </a:xfrm>
        </p:spPr>
        <p:txBody>
          <a:bodyPr/>
          <a:lstStyle/>
          <a:p>
            <a:r>
              <a:rPr lang="zh-CN" dirty="0">
                <a:ea typeface="微软雅黑"/>
              </a:rPr>
              <a:t>3. 必须展示的 FreeRTOS 内容</a:t>
            </a:r>
            <a:r>
              <a:rPr lang="zh-CN" dirty="0" err="1">
                <a:ea typeface="微软雅黑"/>
              </a:rPr>
              <a:t/>
            </a:r>
            <a:r>
              <a:rPr lang="zh-CN" dirty="0">
                <a:ea typeface="微软雅黑"/>
              </a:rPr>
              <a:t/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838200" y="1238250"/>
            <a:ext cx="10515600" cy="5524500"/>
          </a:xfrm>
        </p:spPr>
        <p:txBody>
          <a:bodyPr>
            <a:normAutofit fontScale="85000" lnSpcReduction="20000"/>
          </a:bodyPr>
          <a:lstStyle/>
          <a:p>
            <a:r>
              <a:rPr lang="zh-CN" dirty="0">
                <a:ea typeface="微软雅黑"/>
              </a:rPr>
              <a:t>你们的实现必须清晰地展示：</a:t>
            </a:r>
            <a:endParaRPr lang="en-GB" dirty="0"/>
          </a:p>
          <a:p>
            <a:pPr lvl="1"/>
            <a:r>
              <a:rPr lang="zh-CN" dirty="0">
                <a:ea typeface="微软雅黑"/>
              </a:rPr>
              <a:t>两个 FreeRTOS 任务</a:t>
            </a:r>
            <a:r>
              <a:rPr lang="zh-CN" dirty="0" err="1">
                <a:ea typeface="微软雅黑"/>
              </a:rPr>
              <a:t/>
            </a:r>
            <a:r>
              <a:rPr lang="zh-CN" dirty="0">
                <a:ea typeface="微软雅黑"/>
              </a:rPr>
              <a:t/>
            </a:r>
            <a:endParaRPr lang="en-GB" dirty="0"/>
          </a:p>
          <a:p>
            <a:pPr lvl="1"/>
            <a:r>
              <a:rPr lang="zh-CN" dirty="0">
                <a:ea typeface="微软雅黑"/>
              </a:rPr>
              <a:t>两个 FreeRTOS 队列</a:t>
            </a:r>
            <a:r>
              <a:rPr lang="zh-CN" dirty="0" err="1">
                <a:ea typeface="微软雅黑"/>
              </a:rPr>
              <a:t/>
            </a:r>
            <a:r>
              <a:rPr lang="zh-CN" dirty="0">
                <a:ea typeface="微软雅黑"/>
              </a:rPr>
              <a:t/>
            </a:r>
            <a:endParaRPr lang="en-GB" dirty="0"/>
          </a:p>
          <a:p>
            <a:pPr lvl="1"/>
            <a:r>
              <a:rPr lang="zh-CN" dirty="0">
                <a:ea typeface="微软雅黑"/>
              </a:rPr>
              <a:t>两个任务正确的阻塞与唤醒行为</a:t>
            </a:r>
            <a:endParaRPr lang="en-GB" dirty="0"/>
          </a:p>
          <a:p>
            <a:pPr lvl="1"/>
            <a:r>
              <a:rPr lang="zh-CN" dirty="0">
                <a:ea typeface="微软雅黑"/>
              </a:rPr>
              <a:t>以下各项之间的清晰分离：</a:t>
            </a:r>
            <a:endParaRPr lang="en-GB" dirty="0"/>
          </a:p>
          <a:p>
            <a:pPr lvl="2"/>
            <a:r>
              <a:rPr lang="zh-CN" dirty="0">
                <a:ea typeface="微软雅黑"/>
              </a:rPr>
              <a:t>DMA 驱动中断通知</a:t>
            </a:r>
            <a:endParaRPr lang="en-GB" dirty="0"/>
          </a:p>
          <a:p>
            <a:pPr lvl="2"/>
            <a:r>
              <a:rPr lang="zh-CN" dirty="0">
                <a:ea typeface="微软雅黑"/>
              </a:rPr>
              <a:t>任务级解析</a:t>
            </a:r>
            <a:endParaRPr lang="en-GB" dirty="0"/>
          </a:p>
          <a:p>
            <a:pPr lvl="2"/>
            <a:r>
              <a:rPr lang="zh-CN" dirty="0">
                <a:ea typeface="微软雅黑"/>
              </a:rPr>
              <a:t>任务级输出/调试</a:t>
            </a:r>
            <a:endParaRPr lang="en-GB" dirty="0"/>
          </a:p>
          <a:p>
            <a:r>
              <a:rPr lang="zh-CN" dirty="0">
                <a:ea typeface="微软雅黑"/>
              </a:rPr>
              <a:t>你们团队还必须能够解释：</a:t>
            </a:r>
            <a:endParaRPr lang="en-GB" dirty="0"/>
          </a:p>
          <a:p>
            <a:pPr lvl="1"/>
            <a:r>
              <a:rPr lang="zh-CN" dirty="0">
                <a:ea typeface="微软雅黑"/>
              </a:rPr>
              <a:t>DMA 如何逐个半区地填充内存缓冲区</a:t>
            </a:r>
            <a:endParaRPr lang="en-GB" dirty="0"/>
          </a:p>
          <a:p>
            <a:pPr lvl="1"/>
            <a:r>
              <a:rPr lang="zh-CN" dirty="0">
                <a:ea typeface="微软雅黑"/>
              </a:rPr>
              <a:t>DMA 半完成和/或完成事件如何标识一个就绪的块</a:t>
            </a:r>
            <a:endParaRPr lang="en-GB" dirty="0"/>
          </a:p>
          <a:p>
            <a:pPr lvl="1"/>
            <a:r>
              <a:rPr lang="zh-CN" dirty="0">
                <a:ea typeface="微软雅黑"/>
              </a:rPr>
              <a:t>为什么 ISR 应保持简短</a:t>
            </a:r>
            <a:endParaRPr lang="en-GB" dirty="0"/>
          </a:p>
          <a:p>
            <a:pPr lvl="1"/>
            <a:r>
              <a:rPr lang="zh-CN" dirty="0">
                <a:ea typeface="微软雅黑"/>
              </a:rPr>
              <a:t>为什么队列 1 只携带一个小型描述符</a:t>
            </a:r>
            <a:endParaRPr lang="en-GB" dirty="0"/>
          </a:p>
          <a:p>
            <a:pPr lvl="1"/>
            <a:r>
              <a:rPr lang="zh-CN" dirty="0">
                <a:ea typeface="微软雅黑"/>
              </a:rPr>
              <a:t>两个任务如何在 BLOCKED、READY 与 RUNNING 之间转换</a:t>
            </a:r>
            <a:endParaRPr lang="en-GB" dirty="0"/>
          </a:p>
          <a:p>
            <a:pPr lvl="1"/>
            <a:r>
              <a:rPr lang="zh-CN" dirty="0">
                <a:ea typeface="微软雅黑"/>
              </a:rPr>
              <a:t>为什么激光雷达解析任务的优先级应高于输出/调试任务</a:t>
            </a:r>
            <a:endParaRPr lang="en-GB" dirty="0"/>
          </a:p>
          <a:p>
            <a:pPr lvl="1"/>
            <a:r>
              <a:rPr lang="zh-CN" dirty="0">
                <a:ea typeface="微软雅黑"/>
              </a:rPr>
              <a:t>创建了哪些 FreeRTOS 内存对象，例如：</a:t>
            </a:r>
            <a:r>
              <a:rPr lang="zh-CN" dirty="0" err="1">
                <a:ea typeface="微软雅黑"/>
              </a:rPr>
              <a:t/>
            </a:r>
            <a:r>
              <a:rPr lang="zh-CN" dirty="0">
                <a:ea typeface="微软雅黑"/>
              </a:rPr>
              <a:t/>
            </a:r>
            <a:endParaRPr lang="en-GB" dirty="0"/>
          </a:p>
          <a:p>
            <a:pPr lvl="2"/>
            <a:r>
              <a:rPr lang="zh-CN" dirty="0">
                <a:ea typeface="微软雅黑"/>
              </a:rPr>
              <a:t>队列存储</a:t>
            </a:r>
            <a:endParaRPr lang="en-GB" dirty="0"/>
          </a:p>
          <a:p>
            <a:pPr lvl="2"/>
            <a:r>
              <a:rPr lang="zh-CN" dirty="0">
                <a:ea typeface="微软雅黑"/>
              </a:rPr>
              <a:t>任务栈</a:t>
            </a:r>
            <a:endParaRPr lang="en-GB" dirty="0"/>
          </a:p>
          <a:p>
            <a:pPr lvl="2"/>
            <a:r>
              <a:rPr lang="zh-CN" dirty="0">
                <a:ea typeface="微软雅黑"/>
              </a:rPr>
              <a:t>任务控制块</a:t>
            </a:r>
            <a:endParaRPr lang="en-GB" dirty="0"/>
          </a:p>
          <a:p>
            <a:r>
              <a:rPr lang="zh-CN" dirty="0">
                <a:ea typeface="微软雅黑"/>
              </a:rPr>
              <a:t>关键学习要点：</a:t>
            </a:r>
            <a:endParaRPr lang="en-GB" dirty="0"/>
          </a:p>
          <a:p>
            <a:pPr lvl="1"/>
            <a:r>
              <a:rPr lang="zh-CN" dirty="0">
                <a:ea typeface="微软雅黑"/>
              </a:rPr>
              <a:t>DMA 将激光雷达数据流接收到交替的缓冲区半区中，ISR 在半区就绪时发出通知，队列 1 唤醒解析任务，解析任务直接从 DMA 缓冲区读取该已完成的块并进行处理，然后把结果发送到队列 2，最后由输出任务呈现结果。</a:t>
            </a:r>
            <a:endParaRPr lang="en-GB" dirty="0"/>
          </a:p>
          <a:p>
            <a:pPr lvl="2"/>
            <a:endParaRPr lang="en-GB" dirty="0"/>
          </a:p>
        </p:txBody>
      </p:sp>
      <p:sp>
        <p:nvSpPr>
          <p:cNvPr id="6" name="TextBox 5"/>
          <p:cNvSpPr txBox="1"/>
          <p:nvPr/>
        </p:nvSpPr>
        <p:spPr>
          <a:xfrm>
            <a:off x="-47625" y="4210050"/>
            <a:ext cx="18473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endParaRPr lang="en-GB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CN" sz="3600" noProof="0" dirty="0">
                <a:ea typeface="微软雅黑"/>
              </a:rPr>
              <a:t>第 4 周结束</a:t>
            </a:r>
            <a:r>
              <a:rPr lang="zh-CN" sz="3600" noProof="0" dirty="0">
                <a:ea typeface="微软雅黑"/>
              </a:rPr>
              <a:t/>
            </a:r>
            <a:endParaRPr lang="en-GB" sz="3600" noProof="0" dirty="0"/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rgbClr val="D30079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rgbClr val="FF0095"/>
          </a:solidFill>
          <a:tailEnd type="triangle"/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800" dirty="0" smtClean="0">
            <a:latin typeface="Arial" panose="020B0604020202020204" pitchFamily="34" charset="0"/>
            <a:cs typeface="Arial" panose="020B0604020202020204" pitchFamily="34" charset="0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5036</Words>
  <Application>WPS 演示</Application>
  <PresentationFormat>Widescreen</PresentationFormat>
  <Paragraphs>105</Paragraphs>
  <Slides>7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8" baseType="lpstr">
      <vt:lpstr>Arial</vt:lpstr>
      <vt:lpstr>宋体</vt:lpstr>
      <vt:lpstr>Wingdings</vt:lpstr>
      <vt:lpstr>Calibri</vt:lpstr>
      <vt:lpstr>MS PGothic</vt:lpstr>
      <vt:lpstr>微软雅黑</vt:lpstr>
      <vt:lpstr>Arial Unicode MS</vt:lpstr>
      <vt:lpstr>Aptos</vt:lpstr>
      <vt:lpstr>Segoe UI</vt:lpstr>
      <vt:lpstr>等线</vt:lpstr>
      <vt:lpstr>Office Theme</vt:lpstr>
      <vt:lpstr>Block 4: Coding Day FreeRTOS LiDAR Data Pipeline</vt:lpstr>
      <vt:lpstr>1. Instruction</vt:lpstr>
      <vt:lpstr>2. Challenge Description / Application Behaviour</vt:lpstr>
      <vt:lpstr>2. Challenge Description / Application Behaviour</vt:lpstr>
      <vt:lpstr>2. Challenge Description / Application Behaviour</vt:lpstr>
      <vt:lpstr>3. Required FreeRTOS Demonstration</vt:lpstr>
      <vt:lpstr>End of Week4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Jonathan Loo</dc:creator>
  <cp:lastModifiedBy>呵呵钧</cp:lastModifiedBy>
  <cp:revision>1732</cp:revision>
  <dcterms:created xsi:type="dcterms:W3CDTF">2025-01-05T12:50:00Z</dcterms:created>
  <dcterms:modified xsi:type="dcterms:W3CDTF">2026-10-16T03:53:31Z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05F549867E08494596641B2B97432C32_13</vt:lpwstr>
  </property>
  <property fmtid="{D5CDD505-2E9C-101B-9397-08002B2CF9AE}" pid="3" name="KSOProductBuildVer">
    <vt:lpwstr>2052-12.1.0.29161</vt:lpwstr>
  </property>
</Properties>
</file>